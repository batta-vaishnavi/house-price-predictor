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BC087-23C4-8568-D20F-1B794693F7D9}" v="177" dt="2026-05-29T12:46:03.5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House Price Prediction Using Linear Regression</a:t>
            </a:r>
          </a:p>
        </p:txBody>
      </p:sp>
      <p:sp>
        <p:nvSpPr>
          <p:cNvPr id="3" name="Subtitle 2"/>
          <p:cNvSpPr>
            <a:spLocks noGrp="1"/>
          </p:cNvSpPr>
          <p:nvPr>
            <p:ph type="subTitle" idx="1"/>
          </p:nvPr>
        </p:nvSpPr>
        <p:spPr/>
        <p:txBody>
          <a:bodyPr vert="horz" lIns="91440" tIns="45720" rIns="91440" bIns="45720" rtlCol="0" anchor="t">
            <a:normAutofit/>
          </a:bodyPr>
          <a:lstStyle/>
          <a:p>
            <a:r>
              <a:rPr lang="en-US"/>
              <a:t>Batta Vaishnavi</a:t>
            </a:r>
          </a:p>
          <a:p>
            <a:r>
              <a:rPr lang="en-US"/>
              <a:t>AI&amp;ML Task1</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B3541-BF99-426C-CD70-8C212A3989FE}"/>
              </a:ext>
            </a:extLst>
          </p:cNvPr>
          <p:cNvSpPr>
            <a:spLocks noGrp="1"/>
          </p:cNvSpPr>
          <p:nvPr>
            <p:ph type="title"/>
          </p:nvPr>
        </p:nvSpPr>
        <p:spPr>
          <a:xfrm>
            <a:off x="838200" y="365125"/>
            <a:ext cx="10515600" cy="928906"/>
          </a:xfrm>
        </p:spPr>
        <p:txBody>
          <a:bodyPr/>
          <a:lstStyle/>
          <a:p>
            <a:r>
              <a:rPr lang="en-US"/>
              <a:t>Objective</a:t>
            </a:r>
          </a:p>
        </p:txBody>
      </p:sp>
      <p:sp>
        <p:nvSpPr>
          <p:cNvPr id="3" name="Content Placeholder 2">
            <a:extLst>
              <a:ext uri="{FF2B5EF4-FFF2-40B4-BE49-F238E27FC236}">
                <a16:creationId xmlns:a16="http://schemas.microsoft.com/office/drawing/2014/main" id="{F0C5EFCE-2A72-5156-930B-9DFF43CC3E6D}"/>
              </a:ext>
            </a:extLst>
          </p:cNvPr>
          <p:cNvSpPr>
            <a:spLocks noGrp="1"/>
          </p:cNvSpPr>
          <p:nvPr>
            <p:ph idx="1"/>
          </p:nvPr>
        </p:nvSpPr>
        <p:spPr/>
        <p:txBody>
          <a:bodyPr vert="horz" lIns="91440" tIns="45720" rIns="91440" bIns="45720" rtlCol="0" anchor="t">
            <a:normAutofit/>
          </a:bodyPr>
          <a:lstStyle/>
          <a:p>
            <a:r>
              <a:rPr lang="en-US"/>
              <a:t>Predict house price using California housing dataset</a:t>
            </a:r>
          </a:p>
          <a:p>
            <a:r>
              <a:rPr lang="en-US"/>
              <a:t>Learn ML </a:t>
            </a:r>
            <a:r>
              <a:rPr lang="en-US" err="1"/>
              <a:t>workflo</a:t>
            </a:r>
            <a:r>
              <a:rPr lang="en-US"/>
              <a:t>w</a:t>
            </a:r>
          </a:p>
          <a:p>
            <a:pPr marL="0" indent="0">
              <a:buNone/>
            </a:pPr>
            <a:r>
              <a:rPr lang="en-US"/>
              <a:t>          Data loading</a:t>
            </a:r>
            <a:endParaRPr lang="en-US" dirty="0"/>
          </a:p>
          <a:p>
            <a:pPr marL="0" indent="0">
              <a:buNone/>
            </a:pPr>
            <a:r>
              <a:rPr lang="en-US" dirty="0"/>
              <a:t>          </a:t>
            </a:r>
            <a:r>
              <a:rPr lang="en-US"/>
              <a:t>Training</a:t>
            </a:r>
            <a:endParaRPr lang="en-US" dirty="0"/>
          </a:p>
          <a:p>
            <a:pPr marL="0" indent="0">
              <a:buNone/>
            </a:pPr>
            <a:r>
              <a:rPr lang="en-US"/>
              <a:t>          Testing</a:t>
            </a:r>
          </a:p>
          <a:p>
            <a:pPr marL="0" indent="0">
              <a:buNone/>
            </a:pPr>
            <a:r>
              <a:rPr lang="en-US"/>
              <a:t>           Evaluation</a:t>
            </a:r>
          </a:p>
        </p:txBody>
      </p:sp>
    </p:spTree>
    <p:extLst>
      <p:ext uri="{BB962C8B-B14F-4D97-AF65-F5344CB8AC3E}">
        <p14:creationId xmlns:p14="http://schemas.microsoft.com/office/powerpoint/2010/main" val="193168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2AF17-6AC0-3CB0-48D8-4CF38B328354}"/>
              </a:ext>
            </a:extLst>
          </p:cNvPr>
          <p:cNvSpPr>
            <a:spLocks noGrp="1"/>
          </p:cNvSpPr>
          <p:nvPr>
            <p:ph type="title"/>
          </p:nvPr>
        </p:nvSpPr>
        <p:spPr>
          <a:xfrm>
            <a:off x="640080" y="325369"/>
            <a:ext cx="4368602" cy="1956841"/>
          </a:xfrm>
        </p:spPr>
        <p:txBody>
          <a:bodyPr anchor="b">
            <a:normAutofit/>
          </a:bodyPr>
          <a:lstStyle/>
          <a:p>
            <a:r>
              <a:rPr lang="en-US" sz="5400">
                <a:ea typeface="+mj-lt"/>
                <a:cs typeface="+mj-lt"/>
              </a:rPr>
              <a:t>Dataset &amp; EDA</a:t>
            </a:r>
            <a:endParaRPr lang="en-US"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AE315D-F096-75E4-B523-DF1FF9ECC1EB}"/>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a:ea typeface="+mn-lt"/>
                <a:cs typeface="+mn-lt"/>
              </a:rPr>
              <a:t>Dataset: California Housing </a:t>
            </a:r>
            <a:endParaRPr lang="en-US" sz="2200"/>
          </a:p>
          <a:p>
            <a:r>
              <a:rPr lang="en-US" sz="2200">
                <a:ea typeface="+mn-lt"/>
                <a:cs typeface="+mn-lt"/>
              </a:rPr>
              <a:t>Checked: </a:t>
            </a:r>
            <a:endParaRPr lang="en-US" sz="2200"/>
          </a:p>
          <a:p>
            <a:pPr marL="0" indent="0">
              <a:buNone/>
            </a:pPr>
            <a:r>
              <a:rPr lang="en-US" sz="2200">
                <a:ea typeface="+mn-lt"/>
                <a:cs typeface="+mn-lt"/>
              </a:rPr>
              <a:t>       Missing values </a:t>
            </a:r>
            <a:endParaRPr lang="en-US" sz="2200"/>
          </a:p>
          <a:p>
            <a:pPr marL="0" indent="0">
              <a:buNone/>
            </a:pPr>
            <a:r>
              <a:rPr lang="en-US" sz="2200">
                <a:ea typeface="+mn-lt"/>
                <a:cs typeface="+mn-lt"/>
              </a:rPr>
              <a:t>       Correlation </a:t>
            </a:r>
            <a:endParaRPr lang="en-US" sz="2200"/>
          </a:p>
          <a:p>
            <a:pPr marL="0" indent="0">
              <a:buNone/>
            </a:pPr>
            <a:r>
              <a:rPr lang="en-US" sz="2200">
                <a:ea typeface="+mn-lt"/>
                <a:cs typeface="+mn-lt"/>
              </a:rPr>
              <a:t>       Data distribution</a:t>
            </a:r>
            <a:endParaRPr lang="en-US" sz="2200"/>
          </a:p>
          <a:p>
            <a:pPr marL="0" indent="0">
              <a:buNone/>
            </a:pPr>
            <a:endParaRPr lang="en-US" sz="2200"/>
          </a:p>
        </p:txBody>
      </p:sp>
      <p:pic>
        <p:nvPicPr>
          <p:cNvPr id="4" name="Picture 3" descr="A graph with red and blue squares&#10;&#10;AI-generated content may be incorrect.">
            <a:extLst>
              <a:ext uri="{FF2B5EF4-FFF2-40B4-BE49-F238E27FC236}">
                <a16:creationId xmlns:a16="http://schemas.microsoft.com/office/drawing/2014/main" id="{39A94F7D-86F9-BD2F-E35F-104DD7E94006}"/>
              </a:ext>
            </a:extLst>
          </p:cNvPr>
          <p:cNvPicPr>
            <a:picLocks noChangeAspect="1"/>
          </p:cNvPicPr>
          <p:nvPr/>
        </p:nvPicPr>
        <p:blipFill>
          <a:blip r:embed="rId2"/>
          <a:srcRect l="5361" r="2863"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8926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9BDF4-EFFC-16E1-84CA-D2F62D38E80E}"/>
              </a:ext>
            </a:extLst>
          </p:cNvPr>
          <p:cNvSpPr>
            <a:spLocks noGrp="1"/>
          </p:cNvSpPr>
          <p:nvPr>
            <p:ph type="title"/>
          </p:nvPr>
        </p:nvSpPr>
        <p:spPr>
          <a:xfrm>
            <a:off x="793662" y="386930"/>
            <a:ext cx="10066122" cy="1298448"/>
          </a:xfrm>
        </p:spPr>
        <p:txBody>
          <a:bodyPr anchor="b">
            <a:normAutofit/>
          </a:bodyPr>
          <a:lstStyle/>
          <a:p>
            <a:r>
              <a:rPr lang="en-US" sz="4800">
                <a:ea typeface="+mj-lt"/>
                <a:cs typeface="+mj-lt"/>
              </a:rPr>
              <a:t>Model Results</a:t>
            </a:r>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A4E046-A2C2-E42A-5DED-866F44FE99C5}"/>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2000" b="1">
                <a:ea typeface="+mn-lt"/>
                <a:cs typeface="+mn-lt"/>
              </a:rPr>
              <a:t>--- TRAIN SET ---</a:t>
            </a:r>
            <a:endParaRPr lang="en-US" sz="2000" b="1"/>
          </a:p>
          <a:p>
            <a:pPr marL="0" indent="0">
              <a:buNone/>
            </a:pPr>
            <a:r>
              <a:rPr lang="en-US" sz="2000">
                <a:ea typeface="+mn-lt"/>
                <a:cs typeface="+mn-lt"/>
              </a:rPr>
              <a:t> MAE : $ 50,627 </a:t>
            </a:r>
          </a:p>
          <a:p>
            <a:pPr marL="0" indent="0">
              <a:buNone/>
            </a:pPr>
            <a:r>
              <a:rPr lang="en-US" sz="2000">
                <a:ea typeface="+mn-lt"/>
                <a:cs typeface="+mn-lt"/>
              </a:rPr>
              <a:t>RMSE : $ 69,361</a:t>
            </a:r>
          </a:p>
          <a:p>
            <a:pPr marL="0" indent="0">
              <a:buNone/>
            </a:pPr>
            <a:r>
              <a:rPr lang="en-US" sz="2000" b="1">
                <a:ea typeface="+mn-lt"/>
                <a:cs typeface="+mn-lt"/>
              </a:rPr>
              <a:t> </a:t>
            </a:r>
            <a:r>
              <a:rPr lang="en-US" sz="2000">
                <a:ea typeface="+mn-lt"/>
                <a:cs typeface="+mn-lt"/>
              </a:rPr>
              <a:t>R² : 0.6401</a:t>
            </a:r>
          </a:p>
          <a:p>
            <a:pPr marL="0" indent="0">
              <a:buNone/>
            </a:pPr>
            <a:r>
              <a:rPr lang="en-US" sz="2000" b="1">
                <a:ea typeface="+mn-lt"/>
                <a:cs typeface="+mn-lt"/>
              </a:rPr>
              <a:t> --- TEST SET ---</a:t>
            </a:r>
          </a:p>
          <a:p>
            <a:pPr marL="0" indent="0">
              <a:buNone/>
            </a:pPr>
            <a:r>
              <a:rPr lang="en-US" sz="2000">
                <a:ea typeface="+mn-lt"/>
                <a:cs typeface="+mn-lt"/>
              </a:rPr>
              <a:t> MAE : $ 51,821 </a:t>
            </a:r>
          </a:p>
          <a:p>
            <a:pPr marL="0" indent="0">
              <a:buNone/>
            </a:pPr>
            <a:r>
              <a:rPr lang="en-US" sz="2000">
                <a:ea typeface="+mn-lt"/>
                <a:cs typeface="+mn-lt"/>
              </a:rPr>
              <a:t>RMSE : $ 71,148 </a:t>
            </a:r>
          </a:p>
          <a:p>
            <a:pPr marL="0" indent="0">
              <a:buNone/>
            </a:pPr>
            <a:r>
              <a:rPr lang="en-US" sz="2000">
                <a:ea typeface="+mn-lt"/>
                <a:cs typeface="+mn-lt"/>
              </a:rPr>
              <a:t>R² : 0.6137</a:t>
            </a:r>
            <a:endParaRPr lang="en-US" sz="2000"/>
          </a:p>
          <a:p>
            <a:endParaRPr lang="en-US" sz="2000"/>
          </a:p>
        </p:txBody>
      </p:sp>
      <p:pic>
        <p:nvPicPr>
          <p:cNvPr id="4" name="Picture 3">
            <a:extLst>
              <a:ext uri="{FF2B5EF4-FFF2-40B4-BE49-F238E27FC236}">
                <a16:creationId xmlns:a16="http://schemas.microsoft.com/office/drawing/2014/main" id="{A568650D-F6C2-7BF6-2B10-72AAEB50E1FF}"/>
              </a:ext>
            </a:extLst>
          </p:cNvPr>
          <p:cNvPicPr>
            <a:picLocks noChangeAspect="1"/>
          </p:cNvPicPr>
          <p:nvPr/>
        </p:nvPicPr>
        <p:blipFill>
          <a:blip r:embed="rId2"/>
          <a:stretch>
            <a:fillRect/>
          </a:stretch>
        </p:blipFill>
        <p:spPr>
          <a:xfrm>
            <a:off x="5911532" y="3317760"/>
            <a:ext cx="5150277" cy="204723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2054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24490-ED90-1C84-D2A6-CF6E05AFB435}"/>
              </a:ext>
            </a:extLst>
          </p:cNvPr>
          <p:cNvSpPr>
            <a:spLocks noGrp="1"/>
          </p:cNvSpPr>
          <p:nvPr>
            <p:ph type="title"/>
          </p:nvPr>
        </p:nvSpPr>
        <p:spPr/>
        <p:txBody>
          <a:bodyPr/>
          <a:lstStyle/>
          <a:p>
            <a:r>
              <a:rPr lang="en-US">
                <a:ea typeface="+mj-lt"/>
                <a:cs typeface="+mj-lt"/>
              </a:rPr>
              <a:t>Conclusion</a:t>
            </a:r>
            <a:endParaRPr lang="en-US"/>
          </a:p>
        </p:txBody>
      </p:sp>
      <p:sp>
        <p:nvSpPr>
          <p:cNvPr id="3" name="Content Placeholder 2">
            <a:extLst>
              <a:ext uri="{FF2B5EF4-FFF2-40B4-BE49-F238E27FC236}">
                <a16:creationId xmlns:a16="http://schemas.microsoft.com/office/drawing/2014/main" id="{A5643569-2384-A663-FC5D-1E1B3943919D}"/>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Linear Regression model was successfully trained on the California Housing dataset to predict house prices. The model showed good performance and helped understand how different housing features affect price prediction. This project demonstrated the complete machine learning workflow, including data preprocessing, model training, evaluation, and result visualization.</a:t>
            </a:r>
            <a:endParaRPr lang="en-US" dirty="0"/>
          </a:p>
        </p:txBody>
      </p:sp>
    </p:spTree>
    <p:extLst>
      <p:ext uri="{BB962C8B-B14F-4D97-AF65-F5344CB8AC3E}">
        <p14:creationId xmlns:p14="http://schemas.microsoft.com/office/powerpoint/2010/main" val="3846491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House Price Prediction Using Linear Regression</vt:lpstr>
      <vt:lpstr>Objective</vt:lpstr>
      <vt:lpstr>Dataset &amp; EDA</vt:lpstr>
      <vt:lpstr>Model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cp:revision>
  <dcterms:created xsi:type="dcterms:W3CDTF">2026-05-29T12:35:28Z</dcterms:created>
  <dcterms:modified xsi:type="dcterms:W3CDTF">2026-05-29T12:46:13Z</dcterms:modified>
</cp:coreProperties>
</file>